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88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4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9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6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7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4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2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3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76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28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1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33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71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9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4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14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Provider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Project</a:t>
            </a:r>
          </a:p>
          <a:p>
            <a:r>
              <a:rPr dirty="0"/>
              <a:t>By: </a:t>
            </a:r>
            <a:r>
              <a:rPr lang="en-US" dirty="0"/>
              <a:t>Ahmed Hisham 13007014</a:t>
            </a:r>
            <a:endParaRPr dirty="0"/>
          </a:p>
          <a:p>
            <a:r>
              <a:rPr dirty="0"/>
              <a:t>Course: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Fraud Detection?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Healthcare fraud costs billions yearly.</a:t>
            </a:r>
          </a:p>
          <a:p>
            <a:r>
              <a:t>• Fraudulent providers inflate claims and bill unnecessary services.</a:t>
            </a:r>
          </a:p>
          <a:p>
            <a:r>
              <a:t>• Goal: Identify suspicious (“PotentialFraud”) providers.</a:t>
            </a:r>
          </a:p>
          <a:p>
            <a:r>
              <a:t>• Dataset: CMS Fraud Detection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We used 4 datasets:</a:t>
            </a:r>
          </a:p>
          <a:p>
            <a:r>
              <a:rPr sz="2000" dirty="0"/>
              <a:t>• Beneficiary information</a:t>
            </a:r>
          </a:p>
          <a:p>
            <a:r>
              <a:rPr sz="2000" dirty="0"/>
              <a:t>• Inpatient claims</a:t>
            </a:r>
          </a:p>
          <a:p>
            <a:r>
              <a:rPr sz="2000" dirty="0"/>
              <a:t>• Outpatient claims</a:t>
            </a:r>
          </a:p>
          <a:p>
            <a:r>
              <a:rPr sz="2000" dirty="0"/>
              <a:t>• Provider fraud labels</a:t>
            </a:r>
          </a:p>
          <a:p>
            <a:endParaRPr sz="2000" dirty="0"/>
          </a:p>
          <a:p>
            <a:r>
              <a:rPr sz="2000" dirty="0"/>
              <a:t>Key facts:</a:t>
            </a:r>
          </a:p>
          <a:p>
            <a:r>
              <a:rPr sz="2000" dirty="0"/>
              <a:t>• Total providers: 5,410</a:t>
            </a:r>
          </a:p>
          <a:p>
            <a:r>
              <a:rPr sz="2000" dirty="0"/>
              <a:t>• Fraudulent: 506</a:t>
            </a:r>
          </a:p>
          <a:p>
            <a:r>
              <a:rPr sz="2000" dirty="0"/>
              <a:t>• Non-fraudulent: 4,904</a:t>
            </a:r>
          </a:p>
          <a:p>
            <a:r>
              <a:rPr sz="2000" dirty="0"/>
              <a:t>• Highly imbalanced dataset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AC5E17BC-0852-D3E7-79FD-459F4C71C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419" y="1604203"/>
            <a:ext cx="43932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inpatient: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40,474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outpatient: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517,737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Beneficiaries: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138,556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Aggregated features per provider:</a:t>
            </a:r>
          </a:p>
          <a:p>
            <a:r>
              <a:t>• LOS (mean, max, min)</a:t>
            </a:r>
          </a:p>
          <a:p>
            <a:r>
              <a:t>• Inpatient reimbursement totals</a:t>
            </a:r>
          </a:p>
          <a:p>
            <a:r>
              <a:t>• Outpatient reimbursement totals</a:t>
            </a:r>
          </a:p>
          <a:p>
            <a:r>
              <a:t>• Inpatient claim count</a:t>
            </a:r>
          </a:p>
          <a:p>
            <a:r>
              <a:t>• Outpatient claim count</a:t>
            </a:r>
          </a:p>
          <a:p>
            <a:endParaRPr/>
          </a:p>
          <a:p>
            <a:r>
              <a:t>Final dataset: 9 numerical features +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models:</a:t>
            </a:r>
          </a:p>
          <a:p>
            <a:r>
              <a:t>• Logistic Regression (baseline)</a:t>
            </a:r>
          </a:p>
          <a:p>
            <a:r>
              <a:t>• Random Forest (best)</a:t>
            </a:r>
          </a:p>
          <a:p>
            <a:endParaRPr/>
          </a:p>
          <a:p>
            <a:r>
              <a:t>Why Random Forest?</a:t>
            </a:r>
          </a:p>
          <a:p>
            <a:r>
              <a:t>• Works well with imbalanced datasets</a:t>
            </a:r>
          </a:p>
          <a:p>
            <a:r>
              <a:t>• Captures non-linear fraud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Metrics —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94%</a:t>
            </a:r>
          </a:p>
          <a:p>
            <a:r>
              <a:t>Precision (Fraud): 68%</a:t>
            </a:r>
          </a:p>
          <a:p>
            <a:r>
              <a:t>Recall (Fraud): 67%</a:t>
            </a:r>
          </a:p>
          <a:p>
            <a:r>
              <a:t>F1 Score: 68%</a:t>
            </a:r>
          </a:p>
          <a:p>
            <a:endParaRPr/>
          </a:p>
          <a:p>
            <a:r>
              <a:t>Interpretation: Detects ~2/3 fraudulent providers.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E80C74-281E-B85F-CB55-886B9F03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483" y="1765997"/>
            <a:ext cx="4832431" cy="435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&amp;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2715" y="4423832"/>
            <a:ext cx="7772400" cy="3649133"/>
          </a:xfrm>
        </p:spPr>
        <p:txBody>
          <a:bodyPr/>
          <a:lstStyle/>
          <a:p>
            <a:r>
              <a:rPr dirty="0"/>
              <a:t>Shows excellent class separation.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8CF731-CC1E-0082-D646-E689F25D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15" y="1648609"/>
            <a:ext cx="4941786" cy="440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Fraud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predictors:</a:t>
            </a:r>
          </a:p>
          <a:p>
            <a:r>
              <a:rPr dirty="0"/>
              <a:t>• </a:t>
            </a:r>
            <a:r>
              <a:rPr dirty="0" err="1"/>
              <a:t>INP_LOS_max</a:t>
            </a:r>
            <a:endParaRPr dirty="0"/>
          </a:p>
          <a:p>
            <a:r>
              <a:rPr dirty="0"/>
              <a:t>• Total inpatient reimbursement</a:t>
            </a:r>
          </a:p>
          <a:p>
            <a:r>
              <a:rPr dirty="0"/>
              <a:t>• Outpatient claim count</a:t>
            </a:r>
          </a:p>
          <a:p>
            <a:r>
              <a:rPr dirty="0"/>
              <a:t>• Outpatient reimbursement totals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7D16-62E4-F54F-CF2C-1E9E2508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242B-8DDE-661E-067F-F649F3EE4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C1956C0-B40C-F74A-FE62-ED1D1C91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6" y="838200"/>
            <a:ext cx="8809668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71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Model has strong predictive ability.</a:t>
            </a:r>
          </a:p>
          <a:p>
            <a:r>
              <a:rPr dirty="0"/>
              <a:t>Identifies most fraudulent providers.</a:t>
            </a:r>
          </a:p>
          <a:p>
            <a:r>
              <a:rPr dirty="0"/>
              <a:t>Supports healthcare auditing.</a:t>
            </a:r>
          </a:p>
          <a:p>
            <a:endParaRPr dirty="0"/>
          </a:p>
          <a:p>
            <a:r>
              <a:rPr dirty="0"/>
              <a:t>Future improvements:</a:t>
            </a:r>
          </a:p>
          <a:p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/ </a:t>
            </a:r>
            <a:r>
              <a:rPr dirty="0" err="1"/>
              <a:t>LightGBM</a:t>
            </a:r>
            <a:endParaRPr dirty="0"/>
          </a:p>
          <a:p>
            <a:r>
              <a:rPr dirty="0"/>
              <a:t>• SMOTE balancing</a:t>
            </a:r>
          </a:p>
          <a:p>
            <a:r>
              <a:rPr dirty="0"/>
              <a:t>• Diagnosis code embeddings</a:t>
            </a:r>
          </a:p>
          <a:p>
            <a:r>
              <a:rPr dirty="0"/>
              <a:t>• Real-time API deployment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10</TotalTime>
  <Words>283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Healthcare Provider Fraud Detection</vt:lpstr>
      <vt:lpstr>Why Fraud Detection?</vt:lpstr>
      <vt:lpstr>Datasets Used</vt:lpstr>
      <vt:lpstr>Feature Engineering</vt:lpstr>
      <vt:lpstr>Models Trained</vt:lpstr>
      <vt:lpstr>Model Metrics — Random Forest</vt:lpstr>
      <vt:lpstr>Confusion Matrix</vt:lpstr>
      <vt:lpstr>ROC Curve &amp; AUC</vt:lpstr>
      <vt:lpstr>Key Fraud Indicators</vt:lpstr>
      <vt:lpstr>PowerPoint Presentation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Hisham</cp:lastModifiedBy>
  <cp:revision>2</cp:revision>
  <dcterms:created xsi:type="dcterms:W3CDTF">2013-01-27T09:14:16Z</dcterms:created>
  <dcterms:modified xsi:type="dcterms:W3CDTF">2025-11-29T19:50:48Z</dcterms:modified>
  <cp:category/>
</cp:coreProperties>
</file>